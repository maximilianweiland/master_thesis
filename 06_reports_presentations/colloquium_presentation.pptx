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58" r:id="rId3"/>
    <p:sldId id="270" r:id="rId4"/>
    <p:sldId id="277" r:id="rId5"/>
    <p:sldId id="265" r:id="rId6"/>
    <p:sldId id="273" r:id="rId7"/>
    <p:sldId id="266" r:id="rId8"/>
    <p:sldId id="280" r:id="rId9"/>
    <p:sldId id="279" r:id="rId10"/>
    <p:sldId id="282" r:id="rId11"/>
    <p:sldId id="278" r:id="rId12"/>
    <p:sldId id="259" r:id="rId13"/>
    <p:sldId id="271" r:id="rId14"/>
    <p:sldId id="272" r:id="rId15"/>
    <p:sldId id="262" r:id="rId16"/>
    <p:sldId id="264" r:id="rId17"/>
    <p:sldId id="281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255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884">
          <p15:clr>
            <a:srgbClr val="A4A3A4"/>
          </p15:clr>
        </p15:guide>
        <p15:guide id="8" orient="horz" pos="3385">
          <p15:clr>
            <a:srgbClr val="A4A3A4"/>
          </p15:clr>
        </p15:guide>
        <p15:guide id="9" orient="horz" pos="2704">
          <p15:clr>
            <a:srgbClr val="A4A3A4"/>
          </p15:clr>
        </p15:guide>
        <p15:guide id="10" orient="horz" pos="1207">
          <p15:clr>
            <a:srgbClr val="A4A3A4"/>
          </p15:clr>
        </p15:guide>
        <p15:guide id="11" orient="horz" pos="1525">
          <p15:clr>
            <a:srgbClr val="A4A3A4"/>
          </p15:clr>
        </p15:guide>
        <p15:guide id="12" orient="horz" pos="1480">
          <p15:clr>
            <a:srgbClr val="A4A3A4"/>
          </p15:clr>
        </p15:guide>
        <p15:guide id="13" orient="horz" pos="3067">
          <p15:clr>
            <a:srgbClr val="A4A3A4"/>
          </p15:clr>
        </p15:guide>
        <p15:guide id="14" orient="horz" pos="1979">
          <p15:clr>
            <a:srgbClr val="A4A3A4"/>
          </p15:clr>
        </p15:guide>
        <p15:guide id="15" pos="2925">
          <p15:clr>
            <a:srgbClr val="A4A3A4"/>
          </p15:clr>
        </p15:guide>
        <p15:guide id="16" pos="2835">
          <p15:clr>
            <a:srgbClr val="A4A3A4"/>
          </p15:clr>
        </p15:guide>
        <p15:guide id="17" pos="2245">
          <p15:clr>
            <a:srgbClr val="A4A3A4"/>
          </p15:clr>
        </p15:guide>
        <p15:guide id="18" pos="2154">
          <p15:clr>
            <a:srgbClr val="A4A3A4"/>
          </p15:clr>
        </p15:guide>
        <p15:guide id="19" pos="1565">
          <p15:clr>
            <a:srgbClr val="A4A3A4"/>
          </p15:clr>
        </p15:guide>
        <p15:guide id="20" pos="1474">
          <p15:clr>
            <a:srgbClr val="A4A3A4"/>
          </p15:clr>
        </p15:guide>
        <p15:guide id="21" pos="884">
          <p15:clr>
            <a:srgbClr val="A4A3A4"/>
          </p15:clr>
        </p15:guide>
        <p15:guide id="22" pos="793">
          <p15:clr>
            <a:srgbClr val="A4A3A4"/>
          </p15:clr>
        </p15:guide>
        <p15:guide id="23" pos="204">
          <p15:clr>
            <a:srgbClr val="A4A3A4"/>
          </p15:clr>
        </p15:guide>
        <p15:guide id="24" pos="3515">
          <p15:clr>
            <a:srgbClr val="A4A3A4"/>
          </p15:clr>
        </p15:guide>
        <p15:guide id="25" pos="3606">
          <p15:clr>
            <a:srgbClr val="A4A3A4"/>
          </p15:clr>
        </p15:guide>
        <p15:guide id="26" pos="4195">
          <p15:clr>
            <a:srgbClr val="A4A3A4"/>
          </p15:clr>
        </p15:guide>
        <p15:guide id="27" pos="4286">
          <p15:clr>
            <a:srgbClr val="A4A3A4"/>
          </p15:clr>
        </p15:guide>
        <p15:guide id="28" pos="4876">
          <p15:clr>
            <a:srgbClr val="A4A3A4"/>
          </p15:clr>
        </p15:guide>
        <p15:guide id="29" pos="4967">
          <p15:clr>
            <a:srgbClr val="A4A3A4"/>
          </p15:clr>
        </p15:guide>
        <p15:guide id="30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912"/>
    <a:srgbClr val="A2E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0"/>
    <p:restoredTop sz="94832"/>
  </p:normalViewPr>
  <p:slideViewPr>
    <p:cSldViewPr snapToGrid="0">
      <p:cViewPr varScale="1">
        <p:scale>
          <a:sx n="124" d="100"/>
          <a:sy n="124" d="100"/>
        </p:scale>
        <p:origin x="1032" y="168"/>
      </p:cViewPr>
      <p:guideLst>
        <p:guide orient="horz" pos="1253"/>
        <p:guide orient="horz" pos="3838"/>
        <p:guide orient="horz" pos="4201"/>
        <p:guide orient="horz" pos="3294"/>
        <p:guide orient="horz" pos="255"/>
        <p:guide orient="horz" pos="1026"/>
        <p:guide orient="horz" pos="3884"/>
        <p:guide orient="horz" pos="3385"/>
        <p:guide orient="horz" pos="2704"/>
        <p:guide orient="horz" pos="1207"/>
        <p:guide orient="horz" pos="1525"/>
        <p:guide orient="horz" pos="1480"/>
        <p:guide orient="horz" pos="3067"/>
        <p:guide orient="horz" pos="1979"/>
        <p:guide pos="2925"/>
        <p:guide pos="2835"/>
        <p:guide pos="2245"/>
        <p:guide pos="2154"/>
        <p:guide pos="1565"/>
        <p:guide pos="1474"/>
        <p:guide pos="884"/>
        <p:guide pos="793"/>
        <p:guide pos="204"/>
        <p:guide pos="3515"/>
        <p:guide pos="3606"/>
        <p:guide pos="4195"/>
        <p:guide pos="4286"/>
        <p:guide pos="4876"/>
        <p:guide pos="4967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3F812594-BBA1-2783-F6E5-34C2905F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C8ADB8CE-B528-59D5-A7AE-6A62B6D2D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CB931A94-4E5E-5373-6A80-B305EA0B8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CD5C7DE7-5746-83E4-89D1-2D560EF5F2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0382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77318A21-320E-446E-F82E-F59787AD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5F51A8C7-BD2E-7BB1-ACFA-E473AA572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8DD9BDAB-C2F9-E624-D2D4-735A9D7F9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70DC7588-A5B4-ECC2-4194-54F59C0343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6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1703B3B1-F19A-8801-A08C-C9C815173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52244EB9-9F94-FBBD-0B0D-A780AD151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9A6B6A36-E12B-2CF3-0F19-2B56245B3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EBFF1751-B5CE-79D0-831A-50BE535C50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567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90E485C-32F8-00D9-FAD2-6A43A1A5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323E9C46-20A3-334A-8B6F-F11EE4FE4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0712C389-F5C3-C5EA-03ED-B99478D86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30D5B94D-7B48-EFBF-5EB6-F3B12EAEF0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202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2A745CD9-55ED-62CF-BD5A-10EEC82F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88D3FBBE-2857-B382-D196-B4309D1DF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E465278B-60BE-A61B-1396-8DA94E3D1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9DA683E1-E82E-5B26-5790-7BAE69C1E3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93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7322DE2E-20EF-2E25-38D6-54EB65C5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1B26C3B4-4802-2BD4-3BD4-2FAF911BD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3372AD07-3F84-30F6-2AEE-3EA516130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134C9BF2-75C9-5D2C-6661-8DCA0F3385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361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490FF3A-CEEC-CD55-F3F7-C43EEB2E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83C25BB3-94D4-409B-173D-638737218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38365A74-CB41-18C6-1FC6-2729313EA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18E530EE-BF66-2888-E3D9-E8925343AE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793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F196DDD-20D6-2692-7C44-64800013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F56CC4E2-502E-F19F-3D11-228D90227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7FAE6B23-3B6D-BCA9-0204-CA661D2A5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A853A380-BB8C-AD33-EE62-479523D535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7153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D965854-3FC7-F7ED-7943-E53F9D31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>
            <a:extLst>
              <a:ext uri="{FF2B5EF4-FFF2-40B4-BE49-F238E27FC236}">
                <a16:creationId xmlns:a16="http://schemas.microsoft.com/office/drawing/2014/main" id="{F2CE227B-321C-A839-6BB7-54FA5D3F3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>
            <a:extLst>
              <a:ext uri="{FF2B5EF4-FFF2-40B4-BE49-F238E27FC236}">
                <a16:creationId xmlns:a16="http://schemas.microsoft.com/office/drawing/2014/main" id="{ADB6C3C5-931F-7121-2790-3BADE7744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>
            <a:extLst>
              <a:ext uri="{FF2B5EF4-FFF2-40B4-BE49-F238E27FC236}">
                <a16:creationId xmlns:a16="http://schemas.microsoft.com/office/drawing/2014/main" id="{9C27F1B6-683C-004D-4F3A-D6F5E5852F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8109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4CF3DA7-C20B-F063-5EC6-80D7D0E7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>
            <a:extLst>
              <a:ext uri="{FF2B5EF4-FFF2-40B4-BE49-F238E27FC236}">
                <a16:creationId xmlns:a16="http://schemas.microsoft.com/office/drawing/2014/main" id="{C113EBE1-F8A0-4AF3-003C-83F002AA4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>
            <a:extLst>
              <a:ext uri="{FF2B5EF4-FFF2-40B4-BE49-F238E27FC236}">
                <a16:creationId xmlns:a16="http://schemas.microsoft.com/office/drawing/2014/main" id="{D8ABC7F2-CEAC-8C91-6C90-7A3FCE92C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>
            <a:extLst>
              <a:ext uri="{FF2B5EF4-FFF2-40B4-BE49-F238E27FC236}">
                <a16:creationId xmlns:a16="http://schemas.microsoft.com/office/drawing/2014/main" id="{241E1C58-2AB8-6015-86ED-B11EA1A02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626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85f75223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85f75223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e85f752237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4643438" y="1989138"/>
            <a:ext cx="4500184" cy="32400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23850" y="2492896"/>
            <a:ext cx="5256213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Gross">
  <p:cSld name="Zitat Gros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 u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 panose="020B0604020202020204" pitchFamily="34" charset="0"/>
              <a:buChar char="•"/>
              <a:defRPr sz="350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pPr lvl="1"/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Inhalte">
  <p:cSld name="Titel Gross und zwei Inhal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lang="de-DE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2" hasCustomPrompt="1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de-DE" dirty="0" err="1"/>
              <a:t>Ss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Bilder">
  <p:cSld name="Titel Gross und zwei Bil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Gross">
  <p:cSld name="Nur Titel Gros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12" name="Google Shape;12;p1"/>
          <p:cNvCxnSpPr/>
          <p:nvPr/>
        </p:nvCxnSpPr>
        <p:spPr>
          <a:xfrm>
            <a:off x="323850" y="6408378"/>
            <a:ext cx="8496622" cy="0"/>
          </a:xfrm>
          <a:prstGeom prst="straightConnector1">
            <a:avLst/>
          </a:prstGeom>
          <a:noFill/>
          <a:ln w="12700" cap="flat" cmpd="sng">
            <a:solidFill>
              <a:srgbClr val="0098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5724525" y="6453336"/>
            <a:ext cx="3095947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Universität Konstanz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9" r:id="rId5"/>
    <p:sldLayoutId id="2147483660" r:id="rId6"/>
    <p:sldLayoutId id="214748366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514350" marR="0" lvl="0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16">
            <a:extLst>
              <a:ext uri="{FF2B5EF4-FFF2-40B4-BE49-F238E27FC236}">
                <a16:creationId xmlns:a16="http://schemas.microsoft.com/office/drawing/2014/main" id="{9A3E191D-A782-E963-3507-B6624836F947}"/>
              </a:ext>
            </a:extLst>
          </p:cNvPr>
          <p:cNvSpPr/>
          <p:nvPr/>
        </p:nvSpPr>
        <p:spPr>
          <a:xfrm>
            <a:off x="289623" y="1995888"/>
            <a:ext cx="1833092" cy="5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Detecting </a:t>
            </a:r>
          </a:p>
        </p:txBody>
      </p:sp>
      <p:sp>
        <p:nvSpPr>
          <p:cNvPr id="107" name="Google Shape;107;p16"/>
          <p:cNvSpPr/>
          <p:nvPr/>
        </p:nvSpPr>
        <p:spPr>
          <a:xfrm>
            <a:off x="289624" y="3680625"/>
            <a:ext cx="2284611" cy="5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Using LLMs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289624" y="3118825"/>
            <a:ext cx="4761347" cy="5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Parliamentary Speeches </a:t>
            </a:r>
          </a:p>
        </p:txBody>
      </p:sp>
      <p:sp>
        <p:nvSpPr>
          <p:cNvPr id="109" name="Google Shape;109;p16"/>
          <p:cNvSpPr/>
          <p:nvPr/>
        </p:nvSpPr>
        <p:spPr>
          <a:xfrm>
            <a:off x="289622" y="2557750"/>
            <a:ext cx="4282378" cy="5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Social Group Mentions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406650" y="5546100"/>
            <a:ext cx="8330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noProof="0" dirty="0"/>
              <a:t>Max Weiland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b="0" u="none" noProof="0" dirty="0"/>
              <a:t>Konstanz, 18.11.2025</a:t>
            </a: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Motivation</a:t>
            </a: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57C546E7-1BA7-A5C1-41F2-BA300469E224}"/>
              </a:ext>
            </a:extLst>
          </p:cNvPr>
          <p:cNvSpPr txBox="1">
            <a:spLocks/>
          </p:cNvSpPr>
          <p:nvPr/>
        </p:nvSpPr>
        <p:spPr>
          <a:xfrm>
            <a:off x="323850" y="1271237"/>
            <a:ext cx="4660746" cy="473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/>
            <a:r>
              <a:rPr lang="en-US" sz="1800" dirty="0"/>
              <a:t>Politics is about the representation of the interests of </a:t>
            </a:r>
            <a:r>
              <a:rPr lang="en-US" sz="1800" b="1" dirty="0"/>
              <a:t>social groups</a:t>
            </a:r>
          </a:p>
          <a:p>
            <a:pPr marL="514350" indent="-285750"/>
            <a:r>
              <a:rPr lang="en-US" sz="1800" dirty="0"/>
              <a:t>Politicians regularly talk about and appeal to these groups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To mobilize them, signal responsiveness, make them feel represented and to win votes</a:t>
            </a:r>
          </a:p>
          <a:p>
            <a:pPr marL="514350" indent="-285750"/>
            <a:r>
              <a:rPr lang="en-US" sz="1800" dirty="0"/>
              <a:t>Develop </a:t>
            </a:r>
            <a:r>
              <a:rPr lang="en-US" sz="1800" b="1" dirty="0"/>
              <a:t>automated pipeline </a:t>
            </a:r>
            <a:r>
              <a:rPr lang="en-US" sz="1800" dirty="0"/>
              <a:t>to classify these group appeals in political text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Manual content analysis vs. dictionary vs. LLMs</a:t>
            </a:r>
          </a:p>
          <a:p>
            <a:pPr marL="514350" indent="-285750"/>
            <a:r>
              <a:rPr lang="en-US" sz="1800" dirty="0"/>
              <a:t>Apply best method to </a:t>
            </a:r>
            <a:r>
              <a:rPr lang="en-US" sz="1800" b="1" dirty="0"/>
              <a:t>parliamentary speeches in the UK House of Commons </a:t>
            </a:r>
            <a:r>
              <a:rPr lang="en-US" sz="1800" dirty="0"/>
              <a:t>and analyze how group appeals are used as electoral strategy</a:t>
            </a:r>
            <a:endParaRPr lang="de-DE" sz="1800" dirty="0"/>
          </a:p>
          <a:p>
            <a:pPr lvl="1"/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64CC326-022B-5D83-0CA4-0887B1A6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333" y="3504027"/>
            <a:ext cx="3534472" cy="2353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165A927-F385-4D5E-27C7-25E51BE24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33" y="1282389"/>
            <a:ext cx="3540817" cy="19828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FCC90EC-4681-2980-C9A0-CE2A5EF32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FD5B8D-AC99-FB71-676C-A3D51381A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633653"/>
            <a:ext cx="8384721" cy="2988527"/>
          </a:xfrm>
        </p:spPr>
        <p:txBody>
          <a:bodyPr/>
          <a:lstStyle/>
          <a:p>
            <a:pPr marL="228600" indent="0" algn="ctr"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Research Questions</a:t>
            </a:r>
          </a:p>
          <a:p>
            <a:pPr algn="ctr"/>
            <a:endParaRPr lang="en-US" sz="2800" u="none" noProof="0" dirty="0">
              <a:solidFill>
                <a:schemeClr val="accent1"/>
              </a:solidFill>
            </a:endParaRPr>
          </a:p>
          <a:p>
            <a:pPr marL="228600" indent="0" algn="ctr">
              <a:buNone/>
            </a:pPr>
            <a:r>
              <a:rPr lang="en-US" sz="2000" u="none" noProof="0" dirty="0">
                <a:solidFill>
                  <a:schemeClr val="accent2"/>
                </a:solidFill>
              </a:rPr>
              <a:t>Methodological</a:t>
            </a:r>
          </a:p>
          <a:p>
            <a:pPr marL="228600" indent="0" algn="ctr">
              <a:buNone/>
            </a:pPr>
            <a:r>
              <a:rPr lang="en-US" sz="1800" b="0" u="none" noProof="0" dirty="0"/>
              <a:t>Which classification method most effectively identifies social group appeals in parliamentary speeches?</a:t>
            </a:r>
          </a:p>
          <a:p>
            <a:pPr marL="228600" indent="0" algn="ctr">
              <a:buNone/>
            </a:pPr>
            <a:endParaRPr lang="en-US" sz="1800" b="0" u="none" noProof="0" dirty="0">
              <a:solidFill>
                <a:schemeClr val="accent1"/>
              </a:solidFill>
            </a:endParaRPr>
          </a:p>
          <a:p>
            <a:pPr marL="228600" indent="0" algn="ctr">
              <a:buNone/>
            </a:pPr>
            <a:r>
              <a:rPr lang="en-US" sz="2000" u="none" noProof="0" dirty="0">
                <a:solidFill>
                  <a:schemeClr val="accent2"/>
                </a:solidFill>
              </a:rPr>
              <a:t>Substantive</a:t>
            </a:r>
          </a:p>
          <a:p>
            <a:pPr marL="228600" indent="0" algn="ctr">
              <a:buNone/>
            </a:pPr>
            <a:r>
              <a:rPr lang="en-US" sz="1800" b="0" u="none" dirty="0">
                <a:solidFill>
                  <a:schemeClr val="tx1"/>
                </a:solidFill>
              </a:rPr>
              <a:t>How do British parties and MPs strategically use social group appeals in their parliamentary rhetoric to gain electoral support?</a:t>
            </a:r>
            <a:endParaRPr lang="en-US" sz="1800" b="0" u="none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81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AFF108B7-15CE-86AF-D053-AA6A8C5C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BA95469D-A3FB-540F-FEA2-3C7663C669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Illustrative Examples</a:t>
            </a: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A7F7E97A-296D-AF27-EB12-D2D20255BA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D959898-EBFA-2409-C2F9-8B26B0217CF4}"/>
              </a:ext>
            </a:extLst>
          </p:cNvPr>
          <p:cNvSpPr txBox="1">
            <a:spLocks/>
          </p:cNvSpPr>
          <p:nvPr/>
        </p:nvSpPr>
        <p:spPr>
          <a:xfrm>
            <a:off x="194663" y="1681274"/>
            <a:ext cx="4939526" cy="44195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sz="1600" i="1" noProof="0" dirty="0"/>
              <a:t>‘I am glad to say that the Conservatives will be standing up for working people.’</a:t>
            </a:r>
          </a:p>
          <a:p>
            <a:pPr marL="228600"/>
            <a:endParaRPr lang="en-US" sz="1600" i="1" noProof="0" dirty="0"/>
          </a:p>
          <a:p>
            <a:pPr marL="228600"/>
            <a:r>
              <a:rPr lang="en-US" sz="1600" i="1" noProof="0" dirty="0"/>
              <a:t>‘This Government offers tax cuts to millionaires and porridge and food banks to low-paid workers.’</a:t>
            </a:r>
          </a:p>
          <a:p>
            <a:pPr marL="228600"/>
            <a:endParaRPr lang="en-US" sz="1600" i="1" noProof="0" dirty="0"/>
          </a:p>
          <a:p>
            <a:pPr marL="228600"/>
            <a:r>
              <a:rPr lang="en-US" sz="1600" i="1" noProof="0" dirty="0"/>
              <a:t>‚At what point will the Government put the needs of vulnerable children before private profit?‘</a:t>
            </a:r>
          </a:p>
          <a:p>
            <a:pPr marL="228600"/>
            <a:endParaRPr lang="en-US" sz="1600" i="1" noProof="0" dirty="0"/>
          </a:p>
          <a:p>
            <a:pPr marL="228600"/>
            <a:r>
              <a:rPr lang="en-US" sz="1600" i="1" noProof="0" dirty="0"/>
              <a:t>‚What plans does the Government have to help older people who live on small incomes for which they have saved all their lives to build up?‘</a:t>
            </a:r>
          </a:p>
          <a:p>
            <a:pPr marL="228600"/>
            <a:endParaRPr lang="en-US" sz="1600" i="1" dirty="0"/>
          </a:p>
          <a:p>
            <a:pPr marL="228600"/>
            <a:r>
              <a:rPr lang="en-US" sz="1600" i="1" noProof="0" dirty="0"/>
              <a:t>‚That means thousands of young people being helped to achieve their full potential.‘</a:t>
            </a:r>
            <a:br>
              <a:rPr lang="en-US" sz="1600" i="1" noProof="0" dirty="0"/>
            </a:br>
            <a:br>
              <a:rPr lang="en-US" sz="1600" i="1" noProof="0" dirty="0"/>
            </a:br>
            <a:r>
              <a:rPr lang="en-US" dirty="0">
                <a:solidFill>
                  <a:schemeClr val="accent6"/>
                </a:solidFill>
              </a:rPr>
              <a:t>Note: All examples taken from parliamentary speeches delivered in UK parliament between 2010 and 2019</a:t>
            </a:r>
            <a:endParaRPr lang="en-US" sz="1800" i="1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81C26B1-A61E-F0A9-6709-4213A1DC2371}"/>
              </a:ext>
            </a:extLst>
          </p:cNvPr>
          <p:cNvSpPr/>
          <p:nvPr/>
        </p:nvSpPr>
        <p:spPr>
          <a:xfrm>
            <a:off x="1906859" y="1969448"/>
            <a:ext cx="1388326" cy="270000"/>
          </a:xfrm>
          <a:prstGeom prst="rect">
            <a:avLst/>
          </a:prstGeom>
          <a:solidFill>
            <a:srgbClr val="A2E75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4B98B5E-6B5D-CA5C-5759-31253E8B699D}"/>
              </a:ext>
            </a:extLst>
          </p:cNvPr>
          <p:cNvSpPr/>
          <p:nvPr/>
        </p:nvSpPr>
        <p:spPr>
          <a:xfrm>
            <a:off x="3384357" y="2702464"/>
            <a:ext cx="1572397" cy="270000"/>
          </a:xfrm>
          <a:prstGeom prst="rect">
            <a:avLst/>
          </a:prstGeom>
          <a:solidFill>
            <a:srgbClr val="A2E75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A682FE-C063-236D-7F2C-202AF8C4FF25}"/>
              </a:ext>
            </a:extLst>
          </p:cNvPr>
          <p:cNvSpPr/>
          <p:nvPr/>
        </p:nvSpPr>
        <p:spPr>
          <a:xfrm>
            <a:off x="3691054" y="2432464"/>
            <a:ext cx="1098131" cy="270000"/>
          </a:xfrm>
          <a:prstGeom prst="rect">
            <a:avLst/>
          </a:prstGeom>
          <a:solidFill>
            <a:srgbClr val="FF1912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3C0E55D-345C-A04D-EC00-5A79AF6FA1A4}"/>
              </a:ext>
            </a:extLst>
          </p:cNvPr>
          <p:cNvSpPr/>
          <p:nvPr/>
        </p:nvSpPr>
        <p:spPr>
          <a:xfrm>
            <a:off x="691262" y="3437232"/>
            <a:ext cx="1784309" cy="270000"/>
          </a:xfrm>
          <a:prstGeom prst="rect">
            <a:avLst/>
          </a:prstGeom>
          <a:solidFill>
            <a:srgbClr val="A2E75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E852094-320A-D5DD-B9A6-2BC19E2822AF}"/>
              </a:ext>
            </a:extLst>
          </p:cNvPr>
          <p:cNvSpPr/>
          <p:nvPr/>
        </p:nvSpPr>
        <p:spPr>
          <a:xfrm>
            <a:off x="501803" y="4172000"/>
            <a:ext cx="3546089" cy="270000"/>
          </a:xfrm>
          <a:prstGeom prst="rect">
            <a:avLst/>
          </a:prstGeom>
          <a:solidFill>
            <a:srgbClr val="A2E75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277B19F-7DD1-47BE-5107-0D428C804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189" y="1646726"/>
            <a:ext cx="3798972" cy="3851012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B725877B-30FD-66D5-DCF6-828381FB2DCA}"/>
              </a:ext>
            </a:extLst>
          </p:cNvPr>
          <p:cNvSpPr/>
          <p:nvPr/>
        </p:nvSpPr>
        <p:spPr>
          <a:xfrm>
            <a:off x="2877015" y="4874657"/>
            <a:ext cx="1293540" cy="270000"/>
          </a:xfrm>
          <a:prstGeom prst="rect">
            <a:avLst/>
          </a:prstGeom>
          <a:solidFill>
            <a:srgbClr val="A2E75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447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B0ADE653-5685-7791-57A8-26C6243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6D0AAE9F-9AB4-C148-406A-5B74CB306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>
                <a:solidFill>
                  <a:schemeClr val="accent1"/>
                </a:solidFill>
              </a:rPr>
              <a:t>How Group-Based Rhetoric Works</a:t>
            </a:r>
            <a:endParaRPr lang="en-US" sz="2800" u="none" noProof="0" dirty="0">
              <a:solidFill>
                <a:schemeClr val="accent1"/>
              </a:solidFill>
            </a:endParaRP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7CB6D13C-2A6E-A312-B71E-E434E901C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8391384-5086-8F59-DAAF-9D83E4269C98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7BD556-EE62-BF12-0C48-AE71F6DACD10}"/>
              </a:ext>
            </a:extLst>
          </p:cNvPr>
          <p:cNvSpPr txBox="1">
            <a:spLocks/>
          </p:cNvSpPr>
          <p:nvPr/>
        </p:nvSpPr>
        <p:spPr>
          <a:xfrm>
            <a:off x="323850" y="1279849"/>
            <a:ext cx="7468428" cy="46027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Individuals categorize themselves as belonging to various social groups, have positive feelings towards these </a:t>
            </a:r>
            <a:r>
              <a:rPr lang="en-US" sz="1800" b="1" dirty="0"/>
              <a:t>in-groups </a:t>
            </a:r>
            <a:r>
              <a:rPr lang="en-US" sz="1800" dirty="0"/>
              <a:t>and may have negative feelings against certain </a:t>
            </a:r>
            <a:r>
              <a:rPr lang="en-US" sz="1800" b="1" dirty="0"/>
              <a:t>out-groups </a:t>
            </a:r>
            <a:r>
              <a:rPr lang="en-US" sz="1600" dirty="0">
                <a:solidFill>
                  <a:schemeClr val="accent6"/>
                </a:solidFill>
              </a:rPr>
              <a:t>(Tajfel and Turner 1979)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Talking about certain groups allows politicians to show which groups are important to them </a:t>
            </a:r>
            <a:r>
              <a:rPr lang="en-US" sz="1600" dirty="0">
                <a:solidFill>
                  <a:schemeClr val="accent6"/>
                </a:solidFill>
              </a:rPr>
              <a:t>(Conover 1988)</a:t>
            </a:r>
            <a:endParaRPr lang="en-US" sz="1800" dirty="0">
              <a:solidFill>
                <a:schemeClr val="accent6"/>
              </a:solidFill>
            </a:endParaRP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People inherently rely on social categorization when making political decisions </a:t>
            </a:r>
            <a:r>
              <a:rPr lang="en-US" sz="1600" dirty="0">
                <a:solidFill>
                  <a:schemeClr val="accent6"/>
                </a:solidFill>
              </a:rPr>
              <a:t>(Kinder and Kam 2010) </a:t>
            </a:r>
            <a:r>
              <a:rPr lang="en-US" sz="1800" dirty="0"/>
              <a:t>and may use this identity as </a:t>
            </a:r>
            <a:r>
              <a:rPr lang="en-US" sz="1800" b="1" dirty="0"/>
              <a:t>shortcut</a:t>
            </a:r>
            <a:r>
              <a:rPr lang="en-US" sz="1800" dirty="0"/>
              <a:t> in complex decision-making scenarios </a:t>
            </a:r>
            <a:r>
              <a:rPr lang="en-US" sz="1600" dirty="0">
                <a:solidFill>
                  <a:schemeClr val="accent6"/>
                </a:solidFill>
              </a:rPr>
              <a:t>(Thau 2019)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Group references can </a:t>
            </a:r>
            <a:r>
              <a:rPr lang="en-US" sz="1800" b="1" dirty="0"/>
              <a:t>influence peoples’ evaluations </a:t>
            </a:r>
            <a:r>
              <a:rPr lang="en-US" sz="1800" dirty="0"/>
              <a:t>of political candidates </a:t>
            </a:r>
            <a:r>
              <a:rPr lang="en-US" sz="1600" dirty="0">
                <a:solidFill>
                  <a:schemeClr val="accent6"/>
                </a:solidFill>
              </a:rPr>
              <a:t>(Robison et al. 2021)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Class voting reacts to the appeals made by political parties </a:t>
            </a:r>
            <a:r>
              <a:rPr lang="en-US" sz="1600" dirty="0">
                <a:solidFill>
                  <a:schemeClr val="accent6"/>
                </a:solidFill>
              </a:rPr>
              <a:t>(Thau 2021)</a:t>
            </a:r>
            <a:endParaRPr lang="en-US" sz="1800" dirty="0">
              <a:solidFill>
                <a:schemeClr val="accent6"/>
              </a:solidFill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29011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EBF8066-8D8F-82BD-D071-22C577AD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2D52B8CA-7C57-A7E5-B547-D9F59C44A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Related Work - Detecting Group Mentions</a:t>
            </a: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CE0995D3-BF22-E8C7-C070-8B8CDA6A4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AC9C4F09-E169-8A03-2682-7E1B259404F2}"/>
              </a:ext>
            </a:extLst>
          </p:cNvPr>
          <p:cNvSpPr txBox="1">
            <a:spLocks/>
          </p:cNvSpPr>
          <p:nvPr/>
        </p:nvSpPr>
        <p:spPr>
          <a:xfrm>
            <a:off x="323850" y="1252542"/>
            <a:ext cx="7950355" cy="4352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/>
            <a:r>
              <a:rPr lang="en-US" sz="1800" b="1" dirty="0"/>
              <a:t>Manual hand-coding </a:t>
            </a:r>
            <a:r>
              <a:rPr lang="en-US" sz="1800" dirty="0"/>
              <a:t>of party manifestos in Britain, Austria and the Netherlands </a:t>
            </a:r>
            <a:r>
              <a:rPr lang="en-US" dirty="0">
                <a:solidFill>
                  <a:schemeClr val="accent6"/>
                </a:solidFill>
              </a:rPr>
              <a:t>(Thau 2019, 2021; Horn et al. 2021, Howe et al. 2022, Huber 2022, Dolinsky 2023)</a:t>
            </a:r>
            <a:endParaRPr lang="en-US" sz="1800" dirty="0"/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Group appeals prevalent over time, but became more diversified</a:t>
            </a:r>
          </a:p>
          <a:p>
            <a:pPr marL="514350" indent="-285750"/>
            <a:r>
              <a:rPr lang="en-US" sz="1800" dirty="0"/>
              <a:t>Application of a </a:t>
            </a:r>
            <a:r>
              <a:rPr lang="en-US" sz="1800" b="1" dirty="0"/>
              <a:t>dictionary</a:t>
            </a:r>
            <a:r>
              <a:rPr lang="en-US" sz="1800" dirty="0"/>
              <a:t> to detect group mentions in Tweets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Riethmüller</a:t>
            </a:r>
            <a:r>
              <a:rPr lang="en-US" dirty="0">
                <a:solidFill>
                  <a:schemeClr val="accent6"/>
                </a:solidFill>
              </a:rPr>
              <a:t> and Franzmann 2025, Horne et al. 2025)</a:t>
            </a:r>
            <a:endParaRPr lang="en-US" sz="1800" dirty="0"/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Sentiment towards group classified by BERT model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Challenger parties use more symbolic rhetoric and are more negative</a:t>
            </a:r>
          </a:p>
          <a:p>
            <a:pPr marL="514350" indent="-285750"/>
            <a:r>
              <a:rPr lang="en-US" sz="1800" dirty="0"/>
              <a:t>Using a </a:t>
            </a:r>
            <a:r>
              <a:rPr lang="en-US" sz="1800" b="1" dirty="0"/>
              <a:t>finetuned BERT model </a:t>
            </a:r>
            <a:r>
              <a:rPr lang="en-US" sz="1800" dirty="0"/>
              <a:t>to detect group mentions in party manifestos </a:t>
            </a:r>
            <a:r>
              <a:rPr lang="en-US" dirty="0">
                <a:solidFill>
                  <a:schemeClr val="accent6"/>
                </a:solidFill>
              </a:rPr>
              <a:t>(Licht and Sczepanski 2025, Horne et al. 2025)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Sentences containing group mentions are more emotional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Their frequency is dependent on policy topic</a:t>
            </a:r>
          </a:p>
          <a:p>
            <a:pPr marL="228600" indent="0">
              <a:buNone/>
            </a:pPr>
            <a:endParaRPr 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3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A27764AF-809D-04DE-48D5-57F1F250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4210F8CC-DEB4-F712-F32A-B98595612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>
                <a:solidFill>
                  <a:schemeClr val="accent1"/>
                </a:solidFill>
              </a:rPr>
              <a:t>Supervised Learning for Detection</a:t>
            </a:r>
            <a:endParaRPr lang="en-US" sz="2800" u="none" noProof="0" dirty="0">
              <a:solidFill>
                <a:schemeClr val="accent1"/>
              </a:solidFill>
            </a:endParaRP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37A526CE-49EB-29A1-3E31-DF242BC54E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36079D71-84E2-293A-70F6-C40D28504176}"/>
              </a:ext>
            </a:extLst>
          </p:cNvPr>
          <p:cNvSpPr txBox="1">
            <a:spLocks/>
          </p:cNvSpPr>
          <p:nvPr/>
        </p:nvSpPr>
        <p:spPr>
          <a:xfrm>
            <a:off x="323850" y="1248935"/>
            <a:ext cx="8182106" cy="46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/>
              <a:t>Two classification tasks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Classification of social group mentions as </a:t>
            </a:r>
            <a:r>
              <a:rPr lang="en-US" sz="1800" b="1" dirty="0"/>
              <a:t>Named Entity Recognition </a:t>
            </a:r>
            <a:r>
              <a:rPr lang="en-US" sz="1800" dirty="0"/>
              <a:t>(BIO tagging) and classification of </a:t>
            </a:r>
            <a:r>
              <a:rPr lang="en-US" sz="1800" b="1" dirty="0"/>
              <a:t>stance towards the mentioned group </a:t>
            </a:r>
            <a:r>
              <a:rPr lang="en-US" sz="1800" dirty="0"/>
              <a:t>(positive/supportive, neutral, negative/critical)</a:t>
            </a:r>
            <a:endParaRPr lang="en-US" sz="1800" b="1" dirty="0"/>
          </a:p>
          <a:p>
            <a:r>
              <a:rPr lang="en-US" sz="1800" dirty="0"/>
              <a:t>For both tasks compare best performing BERT model, a finetuned (PEFT) generative LLM, a closed-source generative LLM (few-shot prompted) and a dictionary baseline</a:t>
            </a:r>
          </a:p>
          <a:p>
            <a:r>
              <a:rPr lang="en-US" sz="1800" b="1" dirty="0"/>
              <a:t>Training set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Manual annotation of </a:t>
            </a:r>
            <a:r>
              <a:rPr lang="en-US" sz="1800" b="1" dirty="0"/>
              <a:t>5000 sentences from UK parliamentary speeches </a:t>
            </a:r>
            <a:r>
              <a:rPr lang="en-US" sz="1800" dirty="0"/>
              <a:t>provided in </a:t>
            </a:r>
            <a:r>
              <a:rPr lang="en-US" sz="1800" dirty="0" err="1"/>
              <a:t>ParlSpeech</a:t>
            </a:r>
            <a:r>
              <a:rPr lang="en-US" sz="1800" dirty="0"/>
              <a:t> V2 dataset </a:t>
            </a:r>
            <a:r>
              <a:rPr lang="en-US" dirty="0">
                <a:solidFill>
                  <a:schemeClr val="accent6"/>
                </a:solidFill>
              </a:rPr>
              <a:t>(Rauh and Schwalbach 2020) </a:t>
            </a:r>
            <a:r>
              <a:rPr lang="en-US" dirty="0"/>
              <a:t> </a:t>
            </a:r>
            <a:r>
              <a:rPr lang="en-US" sz="1800" dirty="0"/>
              <a:t>prefiltered with a dictionary </a:t>
            </a:r>
            <a:r>
              <a:rPr lang="en-US" dirty="0">
                <a:solidFill>
                  <a:schemeClr val="accent6"/>
                </a:solidFill>
              </a:rPr>
              <a:t>(Horne et al. 2025)</a:t>
            </a:r>
            <a:endParaRPr lang="en-US" sz="1800" dirty="0"/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b="1" dirty="0"/>
              <a:t>Data augmentations </a:t>
            </a:r>
            <a:r>
              <a:rPr lang="en-US" sz="1800" dirty="0"/>
              <a:t>via synonym replacement based on </a:t>
            </a:r>
            <a:r>
              <a:rPr lang="en-US" sz="1800" dirty="0" err="1"/>
              <a:t>GloVe</a:t>
            </a:r>
            <a:r>
              <a:rPr lang="en-US" sz="1800" dirty="0"/>
              <a:t> embeddings and generative paraphrases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Hyperparameter tuning on a validation set, </a:t>
            </a:r>
            <a:r>
              <a:rPr lang="en-US" sz="1800" b="1" dirty="0"/>
              <a:t>cross-validation</a:t>
            </a:r>
            <a:r>
              <a:rPr lang="en-US" sz="1800" dirty="0"/>
              <a:t> as final evaluation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3448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2BAF270A-38FF-D104-5221-E537D9FD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570F504B-0236-7A9D-C7FD-4A5056A6E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>
                <a:solidFill>
                  <a:schemeClr val="accent1"/>
                </a:solidFill>
              </a:rPr>
              <a:t>Evaluation of NER</a:t>
            </a:r>
            <a:endParaRPr lang="en-US" sz="2800" u="none" noProof="0" dirty="0">
              <a:solidFill>
                <a:schemeClr val="accent1"/>
              </a:solidFill>
            </a:endParaRP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9C62F7B9-DABB-562C-DB15-AF5EEC6BDE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EF7C2CD9-6C75-8E55-E5AC-7208D6A16C48}"/>
              </a:ext>
            </a:extLst>
          </p:cNvPr>
          <p:cNvSpPr txBox="1">
            <a:spLocks/>
          </p:cNvSpPr>
          <p:nvPr/>
        </p:nvSpPr>
        <p:spPr>
          <a:xfrm>
            <a:off x="323850" y="1252542"/>
            <a:ext cx="8273740" cy="4352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 err="1"/>
              <a:t>Seqeval</a:t>
            </a:r>
            <a:r>
              <a:rPr lang="en-US" sz="1800" b="1" dirty="0"/>
              <a:t> </a:t>
            </a:r>
            <a:r>
              <a:rPr lang="en-US" dirty="0">
                <a:solidFill>
                  <a:schemeClr val="accent6"/>
                </a:solidFill>
              </a:rPr>
              <a:t>(Nakayama 2018)</a:t>
            </a:r>
            <a:br>
              <a:rPr lang="en-US" sz="1800" b="1" dirty="0"/>
            </a:br>
            <a:r>
              <a:rPr lang="en-US" sz="1800" dirty="0"/>
              <a:t>Prediction only counts as TP if the entire span is correct</a:t>
            </a:r>
            <a:endParaRPr lang="en-US" sz="1800" b="1" dirty="0"/>
          </a:p>
          <a:p>
            <a:r>
              <a:rPr lang="en-US" sz="1800" b="1" dirty="0"/>
              <a:t>Cross-Span Averages</a:t>
            </a:r>
            <a:r>
              <a:rPr lang="en-US" b="1" dirty="0"/>
              <a:t> </a:t>
            </a:r>
            <a:r>
              <a:rPr lang="en-US" dirty="0">
                <a:solidFill>
                  <a:schemeClr val="accent6"/>
                </a:solidFill>
              </a:rPr>
              <a:t>(Licht and Sczepanski 2025)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Less strict than </a:t>
            </a:r>
            <a:r>
              <a:rPr lang="en-US" sz="1800" dirty="0" err="1">
                <a:solidFill>
                  <a:schemeClr val="tx1"/>
                </a:solidFill>
              </a:rPr>
              <a:t>seqeval</a:t>
            </a:r>
            <a:r>
              <a:rPr lang="en-US" sz="1800" dirty="0">
                <a:solidFill>
                  <a:schemeClr val="tx1"/>
                </a:solidFill>
              </a:rPr>
              <a:t> by rewarding partial matches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To avoid division by zero, assigns full FP and FN recall and precision of 0.00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Sentence-Level</a:t>
            </a:r>
            <a:br>
              <a:rPr lang="en-US" sz="1800" b="1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Count prediction as correct if at least one word of a mention in sentence correctly predicted</a:t>
            </a:r>
          </a:p>
          <a:p>
            <a:pPr marL="228600" indent="0">
              <a:buNone/>
            </a:pPr>
            <a:r>
              <a:rPr lang="en-US" sz="1800" b="1" dirty="0"/>
              <a:t> </a:t>
            </a:r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6" name="Grafik 5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DF0B16ED-4FA2-2848-D92C-487C8F89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7" y="3907064"/>
            <a:ext cx="8112985" cy="169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1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1A30E0B8-073D-A3AA-B773-8D1D6C90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78764CBA-B32E-401C-5A46-8191B3FB1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>
                <a:solidFill>
                  <a:schemeClr val="accent1"/>
                </a:solidFill>
              </a:rPr>
              <a:t>Unsupervised Learning for Categorization</a:t>
            </a:r>
            <a:endParaRPr lang="en-US" sz="2800" u="none" noProof="0" dirty="0">
              <a:solidFill>
                <a:schemeClr val="accent1"/>
              </a:solidFill>
            </a:endParaRP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376F9E1A-0A50-6C43-75F5-A522FB9556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D8999144-2422-03EE-6935-AE19E45DE586}"/>
              </a:ext>
            </a:extLst>
          </p:cNvPr>
          <p:cNvSpPr txBox="1">
            <a:spLocks/>
          </p:cNvSpPr>
          <p:nvPr/>
        </p:nvSpPr>
        <p:spPr>
          <a:xfrm>
            <a:off x="323850" y="1252542"/>
            <a:ext cx="7805389" cy="4352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It is hard to think of all potential social groups that might be mentioned by politicians</a:t>
            </a:r>
          </a:p>
          <a:p>
            <a:r>
              <a:rPr lang="en-US" sz="1800" dirty="0"/>
              <a:t>Prior studies first manually identified and then grouped mentions into meaningful categories by hand </a:t>
            </a:r>
            <a:r>
              <a:rPr lang="en-US" dirty="0">
                <a:solidFill>
                  <a:schemeClr val="accent6"/>
                </a:solidFill>
              </a:rPr>
              <a:t>(Thau 2019)</a:t>
            </a:r>
            <a:endParaRPr lang="en-US" dirty="0"/>
          </a:p>
          <a:p>
            <a:r>
              <a:rPr lang="en-US" sz="1800" dirty="0"/>
              <a:t>Apply </a:t>
            </a:r>
            <a:r>
              <a:rPr lang="en-US" sz="1800" b="1" dirty="0"/>
              <a:t>clustering method </a:t>
            </a:r>
            <a:r>
              <a:rPr lang="en-US" sz="1800" dirty="0"/>
              <a:t>(e.g. DBSCAN) to the pooled embeddings of the mention spans</a:t>
            </a:r>
          </a:p>
          <a:p>
            <a:r>
              <a:rPr lang="en-US" sz="1800" dirty="0"/>
              <a:t>Find a reasonable number of clusters and </a:t>
            </a:r>
            <a:r>
              <a:rPr lang="en-US" sz="1800" b="1" dirty="0"/>
              <a:t>qualitatively assign a label </a:t>
            </a:r>
            <a:r>
              <a:rPr lang="en-US" sz="1800" dirty="0"/>
              <a:t>to these clusters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4942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12691274-92FD-0FFD-D4BD-C4FBB2A9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26C47123-06B6-C2B8-D149-01AD09FCB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>
                <a:solidFill>
                  <a:schemeClr val="accent1"/>
                </a:solidFill>
              </a:rPr>
              <a:t>Data Augmentation</a:t>
            </a:r>
            <a:endParaRPr lang="en-US" sz="2800" u="none" noProof="0" dirty="0">
              <a:solidFill>
                <a:schemeClr val="accent1"/>
              </a:solidFill>
            </a:endParaRP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B8D2571E-0366-5173-0051-8CE92C3923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F360CE-A05F-ACDA-EC27-3EBA7F5AE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0" y="1206500"/>
            <a:ext cx="64135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0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22984496-B631-6616-C39F-B03CC1C2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098353FE-46F0-B849-6585-666D990FF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First Results</a:t>
            </a: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0497CD48-69ED-1EC4-1FF6-1CAF72DF7F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27AC9D8-DB87-BF9E-B608-C54A50049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160" y="3490894"/>
            <a:ext cx="4337235" cy="2809545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2C58E06-806D-963F-7F69-FB7ADA507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160" y="842930"/>
            <a:ext cx="4330572" cy="258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4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23849" y="404669"/>
            <a:ext cx="8164167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Empirical Application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782003F-B563-0F25-3691-767ED74C59C7}"/>
              </a:ext>
            </a:extLst>
          </p:cNvPr>
          <p:cNvSpPr txBox="1">
            <a:spLocks/>
          </p:cNvSpPr>
          <p:nvPr/>
        </p:nvSpPr>
        <p:spPr>
          <a:xfrm>
            <a:off x="323849" y="1202636"/>
            <a:ext cx="8164168" cy="48901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AFC1B4-9B52-0503-8795-8454F4B322C0}"/>
              </a:ext>
            </a:extLst>
          </p:cNvPr>
          <p:cNvSpPr txBox="1">
            <a:spLocks/>
          </p:cNvSpPr>
          <p:nvPr/>
        </p:nvSpPr>
        <p:spPr>
          <a:xfrm>
            <a:off x="323849" y="1212092"/>
            <a:ext cx="7468428" cy="4602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Parliamentary questions </a:t>
            </a:r>
            <a:r>
              <a:rPr lang="en-US" sz="1800" dirty="0"/>
              <a:t>in UK House of Commons between 2010 and 2019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Focus on UK allows comparison with previous studies </a:t>
            </a:r>
            <a:r>
              <a:rPr lang="en-US" sz="1600" dirty="0">
                <a:solidFill>
                  <a:schemeClr val="accent6"/>
                </a:solidFill>
              </a:rPr>
              <a:t>(Thau 2019, 2021)</a:t>
            </a:r>
            <a:endParaRPr lang="en-US" sz="1800" dirty="0"/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Single-member districts </a:t>
            </a:r>
            <a:r>
              <a:rPr lang="en-US" sz="1800" dirty="0"/>
              <a:t>increase importance of individual name recognition </a:t>
            </a:r>
            <a:r>
              <a:rPr lang="en-US" sz="1600" dirty="0">
                <a:solidFill>
                  <a:schemeClr val="accent6"/>
                </a:solidFill>
              </a:rPr>
              <a:t>(Proksch and </a:t>
            </a:r>
            <a:r>
              <a:rPr lang="en-US" sz="1600" dirty="0" err="1">
                <a:solidFill>
                  <a:schemeClr val="accent6"/>
                </a:solidFill>
              </a:rPr>
              <a:t>Slapin</a:t>
            </a:r>
            <a:r>
              <a:rPr lang="en-US" sz="1600" dirty="0">
                <a:solidFill>
                  <a:schemeClr val="accent6"/>
                </a:solidFill>
              </a:rPr>
              <a:t>, 2015)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 candidate-centered systems, the incentive to cultivate a personal vote leads to greater </a:t>
            </a:r>
            <a:r>
              <a:rPr lang="en-US" sz="1800" b="1" dirty="0"/>
              <a:t>responsiveness to constituents </a:t>
            </a:r>
            <a:r>
              <a:rPr lang="en-US" sz="1600" dirty="0">
                <a:solidFill>
                  <a:schemeClr val="accent6"/>
                </a:solidFill>
              </a:rPr>
              <a:t>(Cain et al., 1987)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C6732D-941C-2577-1609-C89340FB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18" y="3686901"/>
            <a:ext cx="3880087" cy="2580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15F9F28-3DBB-D347-70AB-A0E9C9F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CEDB94BA-D234-99EF-1097-B909ABAC1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C023442C-0612-9FDC-4AEF-4F9DFC7D4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49" y="404669"/>
            <a:ext cx="7317921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Hypotheses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2D15F9B-D389-A53E-BB36-5C283820EAFC}"/>
              </a:ext>
            </a:extLst>
          </p:cNvPr>
          <p:cNvSpPr txBox="1">
            <a:spLocks/>
          </p:cNvSpPr>
          <p:nvPr/>
        </p:nvSpPr>
        <p:spPr>
          <a:xfrm>
            <a:off x="323849" y="1280533"/>
            <a:ext cx="7468428" cy="4602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>
              <a:buClr>
                <a:schemeClr val="accent1"/>
              </a:buClr>
            </a:pPr>
            <a:r>
              <a:rPr lang="en-US" sz="1800" i="1" dirty="0"/>
              <a:t>H1a:	All legislators are more likely to use group appeals as an 	election approaches.</a:t>
            </a:r>
          </a:p>
          <a:p>
            <a:pPr marL="228600">
              <a:buClr>
                <a:schemeClr val="accent1"/>
              </a:buClr>
            </a:pPr>
            <a:endParaRPr lang="en-US" sz="1800" i="1" dirty="0"/>
          </a:p>
          <a:p>
            <a:pPr marL="228600">
              <a:buClr>
                <a:schemeClr val="accent1"/>
              </a:buClr>
            </a:pPr>
            <a:r>
              <a:rPr lang="en-US" sz="1800" i="1" dirty="0"/>
              <a:t>H1b:	This effect is more pronounced among electorally 	vulnerable legislators.</a:t>
            </a:r>
          </a:p>
          <a:p>
            <a:pPr marL="228600">
              <a:buClr>
                <a:schemeClr val="accent1"/>
              </a:buClr>
            </a:pPr>
            <a:endParaRPr lang="en-US" sz="1800" i="1" dirty="0"/>
          </a:p>
          <a:p>
            <a:pPr marL="228600">
              <a:buClr>
                <a:schemeClr val="accent1"/>
              </a:buClr>
            </a:pPr>
            <a:r>
              <a:rPr lang="en-US" sz="1800" i="1" dirty="0"/>
              <a:t>H2:	Legislators from opposition parties are more likely to make use 	of negative group appeals.</a:t>
            </a:r>
          </a:p>
          <a:p>
            <a:pPr marL="228600">
              <a:buClr>
                <a:schemeClr val="accent1"/>
              </a:buClr>
            </a:pPr>
            <a:endParaRPr lang="en-US" sz="1800" i="1" dirty="0"/>
          </a:p>
          <a:p>
            <a:pPr marL="228600">
              <a:buClr>
                <a:schemeClr val="accent1"/>
              </a:buClr>
            </a:pPr>
            <a:r>
              <a:rPr lang="en-US" sz="1800" i="1" dirty="0"/>
              <a:t>H3a:	</a:t>
            </a:r>
            <a:r>
              <a:rPr lang="en-US" sz="1800" i="1" dirty="0" err="1"/>
              <a:t>Labour</a:t>
            </a:r>
            <a:r>
              <a:rPr lang="en-US" sz="1800" i="1" dirty="0"/>
              <a:t> MPs are more likely to use positive group appeals 	towards young people, whereas Conservative MPs are more 	likely to positively appeal to elderly people.</a:t>
            </a:r>
          </a:p>
          <a:p>
            <a:pPr marL="228600">
              <a:buClr>
                <a:schemeClr val="accent1"/>
              </a:buClr>
            </a:pPr>
            <a:endParaRPr lang="en-US" sz="1800" i="1" dirty="0"/>
          </a:p>
          <a:p>
            <a:pPr marL="228600">
              <a:buClr>
                <a:schemeClr val="accent1"/>
              </a:buClr>
            </a:pPr>
            <a:r>
              <a:rPr lang="en-US" sz="1800" i="1" dirty="0"/>
              <a:t>H3b:	Legislators’ constituency demographics reinforce these party 	differences.</a:t>
            </a:r>
          </a:p>
        </p:txBody>
      </p:sp>
    </p:spTree>
    <p:extLst>
      <p:ext uri="{BB962C8B-B14F-4D97-AF65-F5344CB8AC3E}">
        <p14:creationId xmlns:p14="http://schemas.microsoft.com/office/powerpoint/2010/main" val="363255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A0ED83A-111C-0482-1E81-6AB7174B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4A0639F7-E671-69C8-623A-DAAD45022C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00BE4F87-7EA9-3C0F-0696-8673EAA9C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669"/>
            <a:ext cx="63357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u="none" noProof="0" dirty="0">
                <a:solidFill>
                  <a:schemeClr val="accent1"/>
                </a:solidFill>
              </a:rPr>
              <a:t>Statistical Method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ABA484-65F8-CE31-94A2-7203E8A66645}"/>
              </a:ext>
            </a:extLst>
          </p:cNvPr>
          <p:cNvSpPr txBox="1">
            <a:spLocks/>
          </p:cNvSpPr>
          <p:nvPr/>
        </p:nvSpPr>
        <p:spPr>
          <a:xfrm>
            <a:off x="323849" y="1202636"/>
            <a:ext cx="7468428" cy="4602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noProof="0" dirty="0"/>
              <a:t>Reduce the dataset to questions asked to Ministers and the PM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1" noProof="0" dirty="0"/>
              <a:t>Aggregate</a:t>
            </a:r>
            <a:r>
              <a:rPr lang="en-US" sz="1800" noProof="0" dirty="0"/>
              <a:t> from sentence to speech level encoding if the speech contains positive/negative appeal towards each group found during clustering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noProof="0" dirty="0"/>
              <a:t>Run separate </a:t>
            </a:r>
            <a:r>
              <a:rPr lang="en-US" sz="1800" b="1" noProof="0" dirty="0"/>
              <a:t>multilevel logistic regressions </a:t>
            </a:r>
            <a:r>
              <a:rPr lang="en-US" sz="1800" noProof="0" dirty="0"/>
              <a:t>predicting the presence of the respective appeal type</a:t>
            </a:r>
          </a:p>
          <a:p>
            <a:pPr marL="5143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noProof="0" dirty="0"/>
              <a:t>Test for party-level (</a:t>
            </a:r>
            <a:r>
              <a:rPr lang="en-US" sz="1800" i="1" noProof="0" dirty="0"/>
              <a:t>party, government status</a:t>
            </a:r>
            <a:r>
              <a:rPr lang="en-US" sz="1800" noProof="0" dirty="0"/>
              <a:t>), MP-level (</a:t>
            </a:r>
            <a:r>
              <a:rPr lang="en-US" sz="1800" i="1" noProof="0" dirty="0"/>
              <a:t>margin of victory, constituency demographics</a:t>
            </a:r>
            <a:r>
              <a:rPr lang="en-US" sz="1800" noProof="0" dirty="0"/>
              <a:t>) variables as well as their interaction (</a:t>
            </a:r>
            <a:r>
              <a:rPr lang="en-US" sz="1800" i="1" noProof="0" dirty="0"/>
              <a:t>party x constituency demographics</a:t>
            </a:r>
            <a:r>
              <a:rPr lang="en-US" sz="1800" noProof="0" dirty="0"/>
              <a:t>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046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323849" y="404663"/>
            <a:ext cx="7865994" cy="72161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1100"/>
            </a:pPr>
            <a:r>
              <a:rPr lang="en-US" sz="2800" u="none" dirty="0">
                <a:solidFill>
                  <a:schemeClr val="accent1"/>
                </a:solidFill>
              </a:rPr>
              <a:t>Limitations, Challenges </a:t>
            </a:r>
            <a:r>
              <a:rPr lang="en-US" sz="2800" u="none" noProof="0" dirty="0">
                <a:solidFill>
                  <a:schemeClr val="accent1"/>
                </a:solidFill>
              </a:rPr>
              <a:t>and Open Questions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FA76B5C6-7DAB-C4F8-8788-85421F152DC6}"/>
              </a:ext>
            </a:extLst>
          </p:cNvPr>
          <p:cNvSpPr txBox="1">
            <a:spLocks/>
          </p:cNvSpPr>
          <p:nvPr/>
        </p:nvSpPr>
        <p:spPr>
          <a:xfrm>
            <a:off x="323849" y="1252542"/>
            <a:ext cx="7950355" cy="4352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/>
            <a:r>
              <a:rPr lang="en-US" sz="1800" dirty="0"/>
              <a:t>No differentiation between policy and group appeals</a:t>
            </a:r>
          </a:p>
          <a:p>
            <a:pPr marL="514350" indent="-285750"/>
            <a:r>
              <a:rPr lang="en-US" sz="1800" dirty="0"/>
              <a:t>Results would be more reliable if multiple people annotated data</a:t>
            </a:r>
          </a:p>
          <a:p>
            <a:pPr marL="514350" indent="-285750"/>
            <a:r>
              <a:rPr lang="en-US" sz="1800" dirty="0"/>
              <a:t>Multilevel models vs. clustered standard errors</a:t>
            </a:r>
          </a:p>
          <a:p>
            <a:pPr marL="514350" indent="-285750"/>
            <a:r>
              <a:rPr lang="en-US" sz="1800" dirty="0"/>
              <a:t>Parliamentary speeches less structured and targeted at the electorate than party manifestos</a:t>
            </a:r>
          </a:p>
          <a:p>
            <a:pPr marL="514350" indent="-285750"/>
            <a:r>
              <a:rPr lang="en-US" sz="1800" dirty="0"/>
              <a:t>Time- and resource-intensive to develop a ”best-effort” approach for each individual method</a:t>
            </a:r>
          </a:p>
          <a:p>
            <a:pPr marL="514350" indent="-285750"/>
            <a:r>
              <a:rPr lang="en-US" sz="1800" dirty="0"/>
              <a:t>Unclear how well clustering works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Clusters containing “mixed” groups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800" dirty="0"/>
              <a:t>Noisier than directly classify into pre-existing categories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D57A1-8FDD-AC02-C426-E1667096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none" noProof="0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D13FB3-6DAA-C741-FFA4-FE514730A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F155920-C0A8-155B-E94E-5E8BB78E5F57}"/>
              </a:ext>
            </a:extLst>
          </p:cNvPr>
          <p:cNvSpPr txBox="1">
            <a:spLocks/>
          </p:cNvSpPr>
          <p:nvPr/>
        </p:nvSpPr>
        <p:spPr>
          <a:xfrm>
            <a:off x="323850" y="1093305"/>
            <a:ext cx="6335713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E982AF7-EF9D-6E29-7B4F-8D0EE4DB3EF9}"/>
              </a:ext>
            </a:extLst>
          </p:cNvPr>
          <p:cNvSpPr txBox="1">
            <a:spLocks/>
          </p:cNvSpPr>
          <p:nvPr/>
        </p:nvSpPr>
        <p:spPr>
          <a:xfrm>
            <a:off x="323850" y="1093304"/>
            <a:ext cx="8496300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BD2BB34D-22D6-9F1A-BDF8-43112D323CF7}"/>
              </a:ext>
            </a:extLst>
          </p:cNvPr>
          <p:cNvSpPr txBox="1">
            <a:spLocks/>
          </p:cNvSpPr>
          <p:nvPr/>
        </p:nvSpPr>
        <p:spPr>
          <a:xfrm>
            <a:off x="323850" y="1270552"/>
            <a:ext cx="7468428" cy="4602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304800"/>
            <a:r>
              <a:rPr lang="en-US" sz="1200" noProof="0" dirty="0"/>
              <a:t>Cain, B., </a:t>
            </a:r>
            <a:r>
              <a:rPr lang="en-US" sz="1200" noProof="0" dirty="0" err="1"/>
              <a:t>Ferejohn</a:t>
            </a:r>
            <a:r>
              <a:rPr lang="en-US" sz="1200" noProof="0" dirty="0"/>
              <a:t>, J., &amp; Fiorina, M. (1987). The personal vote: Constituency service and electoral independence. Harvard University Press.</a:t>
            </a:r>
          </a:p>
          <a:p>
            <a:pPr marL="533400" indent="-304800"/>
            <a:r>
              <a:rPr lang="en-US" sz="1200" noProof="0" dirty="0"/>
              <a:t>Conover, P. J. (1988). The Role of Social Groups in Political Thinking. </a:t>
            </a:r>
            <a:r>
              <a:rPr lang="en-US" sz="1200" i="1" noProof="0" dirty="0"/>
              <a:t>British Journal of Political Science</a:t>
            </a:r>
            <a:r>
              <a:rPr lang="en-US" sz="1200" noProof="0" dirty="0"/>
              <a:t>, </a:t>
            </a:r>
            <a:r>
              <a:rPr lang="en-US" sz="1200" i="1" noProof="0" dirty="0"/>
              <a:t>18</a:t>
            </a:r>
            <a:r>
              <a:rPr lang="en-US" sz="1200" noProof="0" dirty="0"/>
              <a:t>(1), 51–76.</a:t>
            </a:r>
          </a:p>
          <a:p>
            <a:pPr marL="533400" indent="-304800"/>
            <a:r>
              <a:rPr lang="en-US" sz="1200" noProof="0" dirty="0"/>
              <a:t>Dolinsky, A. O. (2023). Parties’ group appeals across time, countries, and communication channels—examining appeals to social groups via the parties’ group appeals dataset. Party Politics, 29 (6), 1130–1146.</a:t>
            </a:r>
          </a:p>
          <a:p>
            <a:pPr marL="533400" indent="-304800"/>
            <a:r>
              <a:rPr lang="en-US" sz="1200" noProof="0" dirty="0"/>
              <a:t>Horn, A., Kevins, A., Jensen, C., &amp; van Kersbergen, K. (2021). Political parties and social groups: New perspectives and data on group and policy appeals. </a:t>
            </a:r>
            <a:r>
              <a:rPr lang="en-US" sz="1200" i="1" noProof="0" dirty="0"/>
              <a:t>Party Politics</a:t>
            </a:r>
            <a:r>
              <a:rPr lang="en-US" sz="1200" noProof="0" dirty="0"/>
              <a:t>, </a:t>
            </a:r>
            <a:r>
              <a:rPr lang="en-US" sz="1200" i="1" noProof="0" dirty="0"/>
              <a:t>27</a:t>
            </a:r>
            <a:r>
              <a:rPr lang="en-US" sz="1200" noProof="0" dirty="0"/>
              <a:t>(5), 983–995. </a:t>
            </a:r>
          </a:p>
          <a:p>
            <a:pPr marL="533400" indent="-304800"/>
            <a:r>
              <a:rPr lang="en-US" sz="1200" noProof="0" dirty="0"/>
              <a:t>Horne, W., Dolinsky, A. O., &amp; Huber, L. M. (2025). Using </a:t>
            </a:r>
            <a:r>
              <a:rPr lang="en-US" sz="1200" noProof="0" dirty="0" err="1"/>
              <a:t>llms</a:t>
            </a:r>
            <a:r>
              <a:rPr lang="en-US" sz="1200" noProof="0" dirty="0"/>
              <a:t> to detect group appeals in parties’ election manifestos1.</a:t>
            </a:r>
          </a:p>
          <a:p>
            <a:pPr marL="533400" indent="-304800"/>
            <a:r>
              <a:rPr lang="en-US" sz="1200" noProof="0" dirty="0"/>
              <a:t>Howe, P. J., </a:t>
            </a:r>
            <a:r>
              <a:rPr lang="en-US" sz="1200" noProof="0" dirty="0" err="1"/>
              <a:t>Szöcsik</a:t>
            </a:r>
            <a:r>
              <a:rPr lang="en-US" sz="1200" noProof="0" dirty="0"/>
              <a:t>, E., &amp; Zuber, C. I. (2022). Nationalism, Class, and Status: How Nationalists Use Policy Offers and Group Appeals to Attract a New Electorate. </a:t>
            </a:r>
            <a:r>
              <a:rPr lang="en-US" sz="1200" i="1" noProof="0" dirty="0"/>
              <a:t>Comparative Political Studies</a:t>
            </a:r>
            <a:r>
              <a:rPr lang="en-US" sz="1200" noProof="0" dirty="0"/>
              <a:t>, </a:t>
            </a:r>
            <a:r>
              <a:rPr lang="en-US" sz="1200" i="1" noProof="0" dirty="0"/>
              <a:t>55</a:t>
            </a:r>
            <a:r>
              <a:rPr lang="en-US" sz="1200" noProof="0" dirty="0"/>
              <a:t>(5), 832–868.</a:t>
            </a:r>
          </a:p>
          <a:p>
            <a:pPr marL="533400" indent="-304800"/>
            <a:r>
              <a:rPr lang="en-US" sz="1200" noProof="0" dirty="0"/>
              <a:t>Huber, L. M. (2022). Beyond Policy: The Use of Social Group Appeals in Party Communication. </a:t>
            </a:r>
            <a:r>
              <a:rPr lang="en-US" sz="1200" i="1" noProof="0" dirty="0"/>
              <a:t>Political Communication</a:t>
            </a:r>
            <a:r>
              <a:rPr lang="en-US" sz="1200" noProof="0" dirty="0"/>
              <a:t>, </a:t>
            </a:r>
            <a:r>
              <a:rPr lang="en-US" sz="1200" i="1" noProof="0" dirty="0"/>
              <a:t>39</a:t>
            </a:r>
            <a:r>
              <a:rPr lang="en-US" sz="1200" noProof="0" dirty="0"/>
              <a:t>(3), 293–310.</a:t>
            </a:r>
          </a:p>
          <a:p>
            <a:pPr marL="533400" indent="-304800"/>
            <a:r>
              <a:rPr lang="en-US" sz="1200" noProof="0" dirty="0"/>
              <a:t>Licht, H., &amp; Sczepanski, R. (2025). Detecting Group Mentions in Political Rhetoric A Supervised Learning Approach. </a:t>
            </a:r>
            <a:r>
              <a:rPr lang="en-US" sz="1200" i="1" noProof="0" dirty="0"/>
              <a:t>British Journal of Political Science</a:t>
            </a:r>
            <a:r>
              <a:rPr lang="en-US" sz="1200" noProof="0" dirty="0"/>
              <a:t>, </a:t>
            </a:r>
            <a:r>
              <a:rPr lang="en-US" sz="1200" i="1" noProof="0" dirty="0"/>
              <a:t>55</a:t>
            </a:r>
            <a:r>
              <a:rPr lang="en-US" sz="1200" noProof="0" dirty="0"/>
              <a:t>, e119.</a:t>
            </a:r>
          </a:p>
          <a:p>
            <a:pPr marL="533400" indent="-304800"/>
            <a:r>
              <a:rPr lang="en-US" sz="1200" noProof="0" dirty="0"/>
              <a:t>Kinder, D. R., &amp; Kam, C. D. (2010). </a:t>
            </a:r>
            <a:r>
              <a:rPr lang="en-US" sz="1200" i="1" noProof="0" dirty="0"/>
              <a:t>Us Against Them: Ethnocentric Foundations of American Opinion</a:t>
            </a:r>
            <a:r>
              <a:rPr lang="en-US" sz="1200" noProof="0" dirty="0"/>
              <a:t>. University of Chicago Press.</a:t>
            </a:r>
          </a:p>
          <a:p>
            <a:pPr marL="533400" indent="-304800"/>
            <a:r>
              <a:rPr lang="en-US" sz="1200" noProof="0" dirty="0"/>
              <a:t>Nakayama, H. (2018). </a:t>
            </a:r>
            <a:r>
              <a:rPr lang="en-US" sz="1200" i="1" noProof="0" dirty="0" err="1"/>
              <a:t>seqeval</a:t>
            </a:r>
            <a:r>
              <a:rPr lang="en-US" sz="1200" i="1" noProof="0" dirty="0"/>
              <a:t>: A Python framework for sequence labeling evaluation</a:t>
            </a:r>
            <a:r>
              <a:rPr lang="en-US" sz="1200" noProof="0" dirty="0"/>
              <a:t>. </a:t>
            </a:r>
          </a:p>
          <a:p>
            <a:pPr marL="533400" indent="-304800"/>
            <a:r>
              <a:rPr lang="en-US" sz="1200" noProof="0" dirty="0"/>
              <a:t>Proksch, S.-O., &amp; </a:t>
            </a:r>
            <a:r>
              <a:rPr lang="en-US" sz="1200" noProof="0" dirty="0" err="1"/>
              <a:t>Slapin</a:t>
            </a:r>
            <a:r>
              <a:rPr lang="en-US" sz="1200" noProof="0" dirty="0"/>
              <a:t>, J. B. (2015). </a:t>
            </a:r>
            <a:r>
              <a:rPr lang="en-US" sz="1200" i="1" noProof="0" dirty="0"/>
              <a:t>The Politics of Parliamentary Debate</a:t>
            </a:r>
            <a:r>
              <a:rPr lang="en-US" sz="1200" noProof="0" dirty="0"/>
              <a:t>. Cambridge University Press.</a:t>
            </a:r>
          </a:p>
          <a:p>
            <a:pPr marL="533400" indent="-3048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33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2BC0-4707-D0BB-165C-2A119C7D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7BD14-EA1F-E42E-A063-6D7B7C76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none" noProof="0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2ECA29F-664A-A191-13FE-CBF0838555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B01BE22B-C856-C38A-2869-E7243A430C6E}"/>
              </a:ext>
            </a:extLst>
          </p:cNvPr>
          <p:cNvSpPr txBox="1">
            <a:spLocks/>
          </p:cNvSpPr>
          <p:nvPr/>
        </p:nvSpPr>
        <p:spPr>
          <a:xfrm>
            <a:off x="323850" y="1093305"/>
            <a:ext cx="6335713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2D914FFD-9D1E-A267-97CD-85885C4CDFF7}"/>
              </a:ext>
            </a:extLst>
          </p:cNvPr>
          <p:cNvSpPr txBox="1">
            <a:spLocks/>
          </p:cNvSpPr>
          <p:nvPr/>
        </p:nvSpPr>
        <p:spPr>
          <a:xfrm>
            <a:off x="323850" y="1093304"/>
            <a:ext cx="8496300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539B106-817C-74D5-D58B-26A7F182A11B}"/>
              </a:ext>
            </a:extLst>
          </p:cNvPr>
          <p:cNvSpPr txBox="1">
            <a:spLocks/>
          </p:cNvSpPr>
          <p:nvPr/>
        </p:nvSpPr>
        <p:spPr>
          <a:xfrm>
            <a:off x="323850" y="1270552"/>
            <a:ext cx="7468428" cy="4602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444500"/>
            <a:r>
              <a:rPr lang="en-US" sz="1200" noProof="0" dirty="0"/>
              <a:t>Rauh, C., &amp; Schwalbach, J. (2020). The </a:t>
            </a:r>
            <a:r>
              <a:rPr lang="en-US" sz="1200" noProof="0" dirty="0" err="1"/>
              <a:t>parlspeech</a:t>
            </a:r>
            <a:r>
              <a:rPr lang="en-US" sz="1200" noProof="0" dirty="0"/>
              <a:t> v2 data set: Full-text corpora of 6.3 million parliamentary speeches in the key legislative chambers of nine representative democracies. Harvard Dataverse, 1 (1).</a:t>
            </a:r>
          </a:p>
          <a:p>
            <a:pPr marL="533400" indent="-444500"/>
            <a:r>
              <a:rPr lang="de-DE" sz="1200" dirty="0" err="1"/>
              <a:t>Robison</a:t>
            </a:r>
            <a:r>
              <a:rPr lang="de-DE" sz="1200" dirty="0"/>
              <a:t>, J., </a:t>
            </a:r>
            <a:r>
              <a:rPr lang="de-DE" sz="1200" dirty="0" err="1"/>
              <a:t>Stubager</a:t>
            </a:r>
            <a:r>
              <a:rPr lang="de-DE" sz="1200" dirty="0"/>
              <a:t>, R., Thau, M., &amp; </a:t>
            </a:r>
            <a:r>
              <a:rPr lang="de-DE" sz="1200" dirty="0" err="1"/>
              <a:t>Tilley</a:t>
            </a:r>
            <a:r>
              <a:rPr lang="de-DE" sz="1200" dirty="0"/>
              <a:t>, J. (2021). </a:t>
            </a:r>
            <a:r>
              <a:rPr lang="de-DE" sz="1200" dirty="0" err="1"/>
              <a:t>Does</a:t>
            </a:r>
            <a:r>
              <a:rPr lang="de-DE" sz="1200" dirty="0"/>
              <a:t> Class-</a:t>
            </a:r>
            <a:r>
              <a:rPr lang="de-DE" sz="1200" dirty="0" err="1"/>
              <a:t>Based</a:t>
            </a:r>
            <a:r>
              <a:rPr lang="de-DE" sz="1200" dirty="0"/>
              <a:t> </a:t>
            </a:r>
            <a:r>
              <a:rPr lang="de-DE" sz="1200" dirty="0" err="1"/>
              <a:t>Campaigning</a:t>
            </a:r>
            <a:r>
              <a:rPr lang="de-DE" sz="1200" dirty="0"/>
              <a:t> Work? How Working Class Appeals </a:t>
            </a:r>
            <a:r>
              <a:rPr lang="de-DE" sz="1200" dirty="0" err="1"/>
              <a:t>Attract</a:t>
            </a:r>
            <a:r>
              <a:rPr lang="de-DE" sz="1200" dirty="0"/>
              <a:t> and </a:t>
            </a:r>
            <a:r>
              <a:rPr lang="de-DE" sz="1200" dirty="0" err="1"/>
              <a:t>Polarize</a:t>
            </a:r>
            <a:r>
              <a:rPr lang="de-DE" sz="1200" dirty="0"/>
              <a:t> </a:t>
            </a:r>
            <a:r>
              <a:rPr lang="de-DE" sz="1200" dirty="0" err="1"/>
              <a:t>Voters</a:t>
            </a:r>
            <a:r>
              <a:rPr lang="de-DE" sz="1200" dirty="0"/>
              <a:t>. </a:t>
            </a:r>
            <a:r>
              <a:rPr lang="de-DE" sz="1200" i="1" dirty="0" err="1"/>
              <a:t>Comparative</a:t>
            </a:r>
            <a:r>
              <a:rPr lang="de-DE" sz="1200" i="1" dirty="0"/>
              <a:t> Political Studies</a:t>
            </a:r>
            <a:r>
              <a:rPr lang="de-DE" sz="1200" dirty="0"/>
              <a:t>, </a:t>
            </a:r>
            <a:r>
              <a:rPr lang="de-DE" sz="1200" i="1" dirty="0"/>
              <a:t>54</a:t>
            </a:r>
            <a:r>
              <a:rPr lang="de-DE" sz="1200" dirty="0"/>
              <a:t>(5), 723–752.</a:t>
            </a:r>
          </a:p>
          <a:p>
            <a:pPr marL="533400" indent="-444500"/>
            <a:r>
              <a:rPr lang="en-US" sz="1200" noProof="0" dirty="0" err="1"/>
              <a:t>Riethmüller</a:t>
            </a:r>
            <a:r>
              <a:rPr lang="en-US" sz="1200" noProof="0" dirty="0"/>
              <a:t>, F., &amp; Franzmann, S. T. (2024). Supply-side dynamics of parties’ group appeals: How dominance affects the choice between symbolic and policy-based appeals. Party Politics, 13540688251339624.</a:t>
            </a:r>
          </a:p>
          <a:p>
            <a:pPr marL="533400" indent="-444500"/>
            <a:r>
              <a:rPr lang="en-US" sz="1200" noProof="0" dirty="0"/>
              <a:t>Tajfel, H., &amp; Turner, J. C. (1979). An integrative theory of intergroup conflict. </a:t>
            </a:r>
            <a:r>
              <a:rPr lang="en-US" sz="1200" i="1" noProof="0" dirty="0"/>
              <a:t>Organizational Identity: A Reader</a:t>
            </a:r>
            <a:r>
              <a:rPr lang="en-US" sz="1200" noProof="0" dirty="0"/>
              <a:t>, </a:t>
            </a:r>
            <a:r>
              <a:rPr lang="en-US" sz="1200" i="1" noProof="0" dirty="0"/>
              <a:t>56</a:t>
            </a:r>
            <a:r>
              <a:rPr lang="en-US" sz="1200" noProof="0" dirty="0"/>
              <a:t>(65), 9780203505984–16.</a:t>
            </a:r>
          </a:p>
          <a:p>
            <a:pPr marL="533400" indent="-444500"/>
            <a:r>
              <a:rPr lang="en-US" sz="1200" noProof="0" dirty="0"/>
              <a:t>Thau, M. (2019). How political parties use group-based appeals: Evidence from </a:t>
            </a:r>
            <a:r>
              <a:rPr lang="en-US" sz="1200" noProof="0" dirty="0" err="1"/>
              <a:t>britain</a:t>
            </a:r>
            <a:r>
              <a:rPr lang="en-US" sz="1200" noProof="0" dirty="0"/>
              <a:t> 1964–2015. Political Studies, 67 (1), 63–82.</a:t>
            </a:r>
          </a:p>
          <a:p>
            <a:pPr marL="533400" indent="-444500"/>
            <a:r>
              <a:rPr lang="en-US" sz="1200" noProof="0" dirty="0"/>
              <a:t>Thau, M. (2021). The Social Divisions of Politics: How Parties’ Group-Based Appeals Influence Social Group Differences in Vote Choice. </a:t>
            </a:r>
            <a:r>
              <a:rPr lang="en-US" sz="1200" i="1" noProof="0" dirty="0"/>
              <a:t>The Journal of Politics</a:t>
            </a:r>
            <a:r>
              <a:rPr lang="en-US" sz="1200" noProof="0" dirty="0"/>
              <a:t>, </a:t>
            </a:r>
            <a:r>
              <a:rPr lang="en-US" sz="1200" i="1" noProof="0" dirty="0"/>
              <a:t>83</a:t>
            </a:r>
            <a:r>
              <a:rPr lang="en-US" sz="1200" noProof="0" dirty="0"/>
              <a:t>(2), 675–688.</a:t>
            </a:r>
            <a:endParaRPr lang="en-US" sz="120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321414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tiät Konstanz Design">
  <a:themeElements>
    <a:clrScheme name="UNIK Farben PowerPoint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9AD1"/>
      </a:accent1>
      <a:accent2>
        <a:srgbClr val="59B6DC"/>
      </a:accent2>
      <a:accent3>
        <a:srgbClr val="A0D3E6"/>
      </a:accent3>
      <a:accent4>
        <a:srgbClr val="C8E5EF"/>
      </a:accent4>
      <a:accent5>
        <a:srgbClr val="B2B2B2"/>
      </a:accent5>
      <a:accent6>
        <a:srgbClr val="808080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1683</Words>
  <Application>Microsoft Macintosh PowerPoint</Application>
  <PresentationFormat>Bildschirmpräsentation (4:3)</PresentationFormat>
  <Paragraphs>141</Paragraphs>
  <Slides>17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Universtiät Konstanz Design</vt:lpstr>
      <vt:lpstr>PowerPoint-Präsentation</vt:lpstr>
      <vt:lpstr>Motivation</vt:lpstr>
      <vt:lpstr>PowerPoint-Präsentation</vt:lpstr>
      <vt:lpstr>Illustrative Examples</vt:lpstr>
      <vt:lpstr>How Group-Based Rhetoric Works</vt:lpstr>
      <vt:lpstr>Related Work - Detecting Group Mentions</vt:lpstr>
      <vt:lpstr>Supervised Learning for Detection</vt:lpstr>
      <vt:lpstr>Evaluation of NER</vt:lpstr>
      <vt:lpstr>Unsupervised Learning for Categorization</vt:lpstr>
      <vt:lpstr>Data Augmentation</vt:lpstr>
      <vt:lpstr>First Results</vt:lpstr>
      <vt:lpstr>Empirical Application  </vt:lpstr>
      <vt:lpstr>Hypotheses </vt:lpstr>
      <vt:lpstr>Statistical Method  </vt:lpstr>
      <vt:lpstr>Limitations, Challenges and Open Questions 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Maximilian Weiland</cp:lastModifiedBy>
  <cp:revision>16</cp:revision>
  <dcterms:modified xsi:type="dcterms:W3CDTF">2025-11-18T14:11:07Z</dcterms:modified>
</cp:coreProperties>
</file>